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2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F172A"/>
                </a:solidFill>
                <a:latin typeface="Georgia"/>
              </a:defRPr>
            </a:pPr>
            <a:r>
              <a:rPr sz="1300" b="0" i="0" u="none" strike="noStrike">
                <a:solidFill>
                  <a:srgbClr val="0F172A"/>
                </a:solidFill>
                <a:latin typeface="Georgia"/>
              </a:rPr>
              <a:t>Global mRNA Vaccine Market (USD B)¹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mRNA vaccine market</c:v>
                </c:pt>
              </c:strCache>
            </c:strRef>
          </c:tx>
          <c:spPr>
            <a:solidFill>
              <a:srgbClr val="06B6D4"/>
            </a:solidFill>
            <a:ln w="38100" cap="flat">
              <a:solidFill>
                <a:srgbClr val="06B6D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6B6D4"/>
              </a:solidFill>
              <a:ln w="9525" cap="flat">
                <a:solidFill>
                  <a:srgbClr val="06B6D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2025</c:v>
                  </c:pt>
                  <c:pt idx="1">
                    <c:v>2026</c:v>
                  </c:pt>
                  <c:pt idx="2">
                    <c:v>2028</c:v>
                  </c:pt>
                  <c:pt idx="3">
                    <c:v>2030</c:v>
                  </c:pt>
                  <c:pt idx="4">
                    <c:v>2032</c:v>
                  </c:pt>
                  <c:pt idx="5">
                    <c:v>2034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6.01</c:v>
                </c:pt>
                <c:pt idx="1">
                  <c:v>6.85</c:v>
                </c:pt>
                <c:pt idx="2">
                  <c:v>9.5</c:v>
                </c:pt>
                <c:pt idx="3">
                  <c:v>13.3</c:v>
                </c:pt>
                <c:pt idx="4">
                  <c:v>18.6</c:v>
                </c:pt>
                <c:pt idx="5">
                  <c:v>25.6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F172A"/>
                </a:solidFill>
                <a:latin typeface="Georgia"/>
              </a:defRPr>
            </a:pPr>
            <a:r>
              <a:rPr sz="1300" b="0" i="0" u="none" strike="noStrike">
                <a:solidFill>
                  <a:srgbClr val="0F172A"/>
                </a:solidFill>
                <a:latin typeface="Georgia"/>
              </a:rPr>
              <a:t>Cost per delivered dose in LMICs (USD, est.)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Cost per delivered dose (USD)</c:v>
                </c:pt>
              </c:strCache>
            </c:strRef>
          </c:tx>
          <c:spPr>
            <a:solidFill>
              <a:srgbClr val="06B6D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Current LNP (LMIC)</c:v>
                  </c:pt>
                  <c:pt idx="1">
                    <c:v>SHiP (LMIC)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10.3</c:v>
                </c:pt>
                <c:pt idx="1">
                  <c:v>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F17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F172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200400"/>
            <a:ext cx="3657600" cy="3657600"/>
          </a:xfrm>
          <a:prstGeom prst="ellipse">
            <a:avLst/>
          </a:prstGeom>
          <a:solidFill>
            <a:srgbClr val="06B6D4">
              <a:alpha val="4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783080" y="3246120"/>
            <a:ext cx="3657600" cy="3657600"/>
          </a:xfrm>
          <a:prstGeom prst="ellipse">
            <a:avLst/>
          </a:prstGeom>
          <a:solidFill>
            <a:srgbClr val="06B6D4">
              <a:alpha val="38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737360" y="3291840"/>
            <a:ext cx="3657600" cy="3657600"/>
          </a:xfrm>
          <a:prstGeom prst="ellipse">
            <a:avLst/>
          </a:prstGeom>
          <a:solidFill>
            <a:srgbClr val="06B6D4">
              <a:alpha val="36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1691640" y="3337560"/>
            <a:ext cx="3657600" cy="3657600"/>
          </a:xfrm>
          <a:prstGeom prst="ellipse">
            <a:avLst/>
          </a:prstGeom>
          <a:solidFill>
            <a:srgbClr val="06B6D4">
              <a:alpha val="34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-1645920" y="3383280"/>
            <a:ext cx="3657600" cy="3657600"/>
          </a:xfrm>
          <a:prstGeom prst="ellipse">
            <a:avLst/>
          </a:prstGeom>
          <a:solidFill>
            <a:srgbClr val="06B6D4">
              <a:alpha val="32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-1600200" y="3429000"/>
            <a:ext cx="3657600" cy="3657600"/>
          </a:xfrm>
          <a:prstGeom prst="ellipse">
            <a:avLst/>
          </a:prstGeom>
          <a:solidFill>
            <a:srgbClr val="06B6D4">
              <a:alpha val="3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-1554480" y="3474720"/>
            <a:ext cx="3657600" cy="3657600"/>
          </a:xfrm>
          <a:prstGeom prst="ellipse">
            <a:avLst/>
          </a:prstGeom>
          <a:solidFill>
            <a:srgbClr val="06B6D4">
              <a:alpha val="28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-1508760" y="3520440"/>
            <a:ext cx="3657600" cy="3657600"/>
          </a:xfrm>
          <a:prstGeom prst="ellipse">
            <a:avLst/>
          </a:prstGeom>
          <a:solidFill>
            <a:srgbClr val="06B6D4">
              <a:alpha val="26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-1463040" y="3566160"/>
            <a:ext cx="3657600" cy="3657600"/>
          </a:xfrm>
          <a:prstGeom prst="ellipse">
            <a:avLst/>
          </a:prstGeom>
          <a:solidFill>
            <a:srgbClr val="06B6D4">
              <a:alpha val="24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-1417320" y="3611880"/>
            <a:ext cx="3657600" cy="3657600"/>
          </a:xfrm>
          <a:prstGeom prst="ellipse">
            <a:avLst/>
          </a:prstGeom>
          <a:solidFill>
            <a:srgbClr val="06B6D4">
              <a:alpha val="22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-1371600" y="3657600"/>
            <a:ext cx="3657600" cy="3657600"/>
          </a:xfrm>
          <a:prstGeom prst="ellipse">
            <a:avLst/>
          </a:prstGeom>
          <a:solidFill>
            <a:srgbClr val="06B6D4">
              <a:alpha val="2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-1325880" y="3703320"/>
            <a:ext cx="3657600" cy="3657600"/>
          </a:xfrm>
          <a:prstGeom prst="ellipse">
            <a:avLst/>
          </a:prstGeom>
          <a:solidFill>
            <a:srgbClr val="06B6D4">
              <a:alpha val="18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5486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EARTHSHOT PROPOSAL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91440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SHiP</a:t>
            </a:r>
            <a:endParaRPr lang="en-US" sz="9600" dirty="0"/>
          </a:p>
        </p:txBody>
      </p:sp>
      <p:sp>
        <p:nvSpPr>
          <p:cNvPr id="16" name="Text 14"/>
          <p:cNvSpPr/>
          <p:nvPr/>
        </p:nvSpPr>
        <p:spPr>
          <a:xfrm>
            <a:off x="640080" y="23317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CBD5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oxidation-proof delivery vehicle for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40080" y="2743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CBD5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ambient-temperature mRNA vaccines.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640080" y="4160520"/>
            <a:ext cx="36576" cy="4572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41605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Cyrus    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  Silica-Histidine Polyplex Platform    ·    April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mRNA vaccines live or die by the cold chain.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4389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mRNA vaccines must be stored at −70 °C to −20 °C.⁷ That single requirement is why billions of people — the ones who most need fast-response vaccines during an outbreak — can't actually get them.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3017520"/>
            <a:ext cx="4389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Refrigeration infrastructure fails during transport, during blackouts, during heatwaves. When it fails, the vaccine fails — silently.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120640" y="1508760"/>
            <a:ext cx="35661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120640" y="1508760"/>
            <a:ext cx="54864" cy="105156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49240" y="1581912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billion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6949440" y="160020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live where reliable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ultra-cold storage doesn't exist⁶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120640" y="2670048"/>
            <a:ext cx="35661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20640" y="2670048"/>
            <a:ext cx="54864" cy="105156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49240" y="27432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up to 50%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949440" y="2761488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vaccines discarded globally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to temperature failures⁴,⁵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120640" y="3831336"/>
            <a:ext cx="35661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20640" y="3831336"/>
            <a:ext cx="54864" cy="105156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49240" y="3904488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$20–35B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949440" y="3922776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pharma losses from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chain breakdowns⁵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references on final slide.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SCALE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growing market with a broken distribution layer.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554480"/>
          <a:ext cx="502920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806440" y="1554480"/>
            <a:ext cx="2880360" cy="3017520"/>
          </a:xfrm>
          <a:prstGeom prst="rect">
            <a:avLst/>
          </a:prstGeom>
          <a:solidFill>
            <a:srgbClr val="0B1929"/>
          </a:solidFill>
          <a:ln w="12700">
            <a:solidFill>
              <a:srgbClr val="0B1929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035040" y="17373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CATCH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6035040" y="205740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growing market that only reaches patients with functional cold-chain infrastructure.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035040" y="3246120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LNPs require ultracold storage because </a:t>
            </a:r>
            <a:pPr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lipid oxidation cannot be stopped by cooling below −20 °C.⁷,⁸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references on final slide.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Lipid oxidation is architectural, not incidental.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approved mRNA vaccine uses ionizable lipids (SM-102, ALC-0315, DLin-MC3-DMA)⁷ with unsaturated fatty tails. Those double bonds are what let the bubble pop open inside cells — but they're also what makes it go rancid.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514600"/>
            <a:ext cx="4023360" cy="2103120"/>
          </a:xfrm>
          <a:prstGeom prst="rect">
            <a:avLst/>
          </a:prstGeom>
          <a:solidFill>
            <a:srgbClr val="FFFFFF"/>
          </a:solidFill>
          <a:ln w="19050">
            <a:solidFill>
              <a:srgbClr val="FEE2E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514600"/>
            <a:ext cx="4023360" cy="7315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697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UNSATURATED (current LNPs)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30175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C–H bond energy ≈ 75 kcal/mol⁹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40080" y="352044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Bis-allylic hydrogens (next to double bonds) are loosely held. Oxygen can rip them off, starting a chain reaction that propagates through the whole lipid.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Analogy: 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flaxseed oil goes rancid in months.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2514600"/>
            <a:ext cx="4023360" cy="2103120"/>
          </a:xfrm>
          <a:prstGeom prst="rect">
            <a:avLst/>
          </a:prstGeom>
          <a:solidFill>
            <a:srgbClr val="FFFFFF"/>
          </a:solidFill>
          <a:ln w="19050">
            <a:solidFill>
              <a:srgbClr val="D1FAE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2514600"/>
            <a:ext cx="402336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2697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SATURATED (SHiP approach)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846320" y="30175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C–H bond energy ≈ 98 kcal/mol⁹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846320" y="352044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double bonds → hydrogens held tightly → oxygen has nothing to abstract. No chain reaction can start.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Analogy: 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coconut oil sits on the shelf for years.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LNP potency and instability are chemically coupled. Swapping to saturated lipids loses 10–100× potency.⁷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INSIGHT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i="1" dirty="0">
                <a:solidFill>
                  <a:srgbClr val="CBD5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Don't slow the reaction.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Remove the substrate.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existing approach — lyophilization, antioxidants, oxygen-free packaging, ultra-cold freezers — tries to make oxidation happen more slowly. They keep the oxidation-prone chemistry in the product and try to protect it. That works to a point, but it never reaches zero.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416052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eliminates the substrate entirely.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oxidizable bond exists anywhere in the delivery vehicle. There is nothing for oxygen to attack — regardless of how much of it gets into the vial.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ARCHITECTURE</a:t>
            </a:r>
            <a:endParaRPr lang="en-US" sz="1100" dirty="0"/>
          </a:p>
        </p:txBody>
      </p:sp>
      <p:pic>
        <p:nvPicPr>
          <p:cNvPr id="3" name="Image 0" descr="/home/claude/ship_deck/ship_3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640080"/>
            <a:ext cx="9144000" cy="45262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1 OF 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pHK polymer: mRNA grabber + pH-activated switch.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chain of two natural amino acids — poly(histidine-co-lysine).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402336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920240"/>
            <a:ext cx="4023360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103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LYSINE (K)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24231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Does the grabbing.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2880360"/>
            <a:ext cx="3657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Positively charged ε-amine (pKa ≈ 10.5) → grabs negatively charged mRNA via electrostatic collapse.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Bonus: 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primary amines catalyze silica shell formation (diatom-style biomimicry).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1920240"/>
            <a:ext cx="402336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1920240"/>
            <a:ext cx="402336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2103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HISTIDINE (H)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846320" y="24231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Does the unlocking.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846320" y="2880360"/>
            <a:ext cx="3657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Imidazole side chain has pKa ≈ 6.0 — the only natural amino acid whose pKa sits between bloodstream and endosome.¹¹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 outside cells. 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inside the endosome. Acts as a pH-triggered switch that drives the proton sponge escape.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via N-carboxyanhydride polymerization — a GMP-proven process (Copaxone uses the same chemistry).¹⁶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2 OF 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Biomimetic silica shell: the oxidation-proof armor.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~5 nm glass coating, grown by the polymer itself — inspired by diatoms.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965960"/>
            <a:ext cx="320040" cy="32004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911096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Oxidation-terminal chemistry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60120" y="2240280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Silicon is already in its highest oxidation state. Si–O bonds (~108 kcal/mol) cannot be broken by oxygen at storage temperatures. Silica is, chemically, the endpoint of oxidation — not a substrate for it.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880360"/>
            <a:ext cx="320040" cy="32004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2825496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Self-assembled from the polyplex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60120" y="3154680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TMOS (a silica precursor) to the polyplex suspension: the polymer's lysine amines catalyze silica deposition on the particle surface. Same mechanism diatoms use with silaffin peptides.¹² The particle grows its own shell.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794760"/>
            <a:ext cx="320040" cy="3200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3739896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Dissolves on demand in the endosome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60120" y="4069080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 biomimetic silica dissolves in ~1 hour under endosomal conditions (pH drop + phosphate catalysis + amine dopants). Storage-stable outside cells, releases cargo inside them.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Precedent: Sartbaeva group (Bath) ensilication — proteins functional after months at RT in silica shells.¹³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3 OF 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Trehalose glass: the tardigrade trick.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amber-like sugar matrix that freezes molecular motion at room temperature.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47548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tardigrades survive desiccation: 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synthesize trehalose to ~20% of their dry weight.¹⁴ When they dry out, trehalose forms a glassy solid that locks every biomolecule in place.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the glass transition temperature (T</a:t>
            </a:r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): sugar is syrupy, things move. Below T</a:t>
            </a:r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sugar is rigid, everything is immobile on pharmaceutical timescales.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particles suspended in trehalose glass at &lt;1% residual moisture have T</a:t>
            </a:r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&gt; 70 °C. At 25 °C storage, nothing can diffuse, aggregate, or react.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0" y="1828800"/>
            <a:ext cx="320040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0" y="1828800"/>
            <a:ext cx="32004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15000" y="2057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TREHALOSE SPECIFICALLY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715000" y="24231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Non-reducing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903720" y="24231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Can't react with mRNA bases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715000" y="28803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Tg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903720" y="28803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stable disaccharide glass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715000" y="33375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GRAS status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903720" y="33375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in many biologics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715000" y="37947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hygroscopy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903720" y="37947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Doesn't re-absorb moisture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used in Herceptin, Advate, Avastin — well-precedented regulatory path.¹⁴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4 OF 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Mannose surface: the APC ID badge.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Sugar tags that say "I'm a pathogen, eat me" — to exactly the right cells.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057400"/>
            <a:ext cx="274320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2331720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331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31520" y="29260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Display mannose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338328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mannose sugar molecules attached to PEG chains on the particle's outer surface (~5% of PEG arms).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37560" y="2057400"/>
            <a:ext cx="274320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11880" y="2331720"/>
            <a:ext cx="502920" cy="50292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11880" y="2331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611880" y="29260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Recognized by APCs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611880" y="338328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Dendritic cells and macrophages express CD206 and DC-SIGN — C-type lectin receptors that evolved to detect mannose-rich pathogens (bacteria, fungi, viruses).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17920" y="2057400"/>
            <a:ext cx="274320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92240" y="2331720"/>
            <a:ext cx="502920" cy="50292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0" y="2331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492240" y="29260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Receptor-mediated uptake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92240" y="338328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Particles are preferentially internalized by exactly the immune cells that initiate vaccine responses. Non-APCs largely ignore them.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 antigen is produced in the exact cell type that presents it to T cells. No wasted dose.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MECHANISM — STORAGE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SHiP survives 12+ months at 25 °C.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MODE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651760" y="15544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CURRENT LNPs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852160" y="15544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SHiP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8229600" cy="1371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920240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Lipid oxidation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651760" y="1920240"/>
            <a:ext cx="3017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Dominant failure mode for LNPs.⁷,⁸ Unstoppable above absolute zero.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852160" y="1920240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oxidizable substrate exists. Rate = 0.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587752"/>
            <a:ext cx="8229600" cy="7315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633472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Particle aggregation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651760" y="2633472"/>
            <a:ext cx="3017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Particles collide and fuse during storage.⁷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852160" y="2633472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Glass matrix immobilizes every particle.¹⁴ Rate ≈ 0.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300984"/>
            <a:ext cx="8229600" cy="7315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346704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mRNA hydrolysis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651760" y="3346704"/>
            <a:ext cx="3017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2′-OH attacks the phosphate backbone — intrinsic to RNA.⁷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852160" y="3346704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activity &lt;0.1 in the glass matrix slows rate ~10×.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4014216"/>
            <a:ext cx="8229600" cy="7315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059936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Lipid hydrolysis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651760" y="4059936"/>
            <a:ext cx="3017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Ester bonds in LNPs break down over time.⁷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852160" y="4059936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applicable — no lipids in the system.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Dominant residual failure: mRNA hydrolysis — bounded, not solved. Sets the 12-month shelf life target.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MECHANISM — DELIVERY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endosomal escape cascade.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storage-stable features become two delivery-activated features — in the right order.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901952"/>
            <a:ext cx="347472" cy="347472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9019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60120" y="18288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Uptake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749040" y="182880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Mannose tags on particle surface bind CD206 on dendritic cells. Receptor-mediated endocytosis.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001000" y="1947672"/>
            <a:ext cx="731520" cy="274320"/>
          </a:xfrm>
          <a:prstGeom prst="rect">
            <a:avLst/>
          </a:prstGeom>
          <a:solidFill>
            <a:srgbClr val="0B1929"/>
          </a:solidFill>
          <a:ln w="12700">
            <a:solidFill>
              <a:srgbClr val="0B1929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01000" y="194767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 7.4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2450592"/>
            <a:ext cx="347472" cy="347472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4505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60120" y="23774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Endosomal acidification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749040" y="237744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V-ATPase pumps protons into the endosome. pH drops from 7.4 → 6 → 5.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001000" y="2496312"/>
            <a:ext cx="731520" cy="274320"/>
          </a:xfrm>
          <a:prstGeom prst="rect">
            <a:avLst/>
          </a:prstGeom>
          <a:solidFill>
            <a:srgbClr val="0B1929"/>
          </a:solidFill>
          <a:ln w="12700">
            <a:solidFill>
              <a:srgbClr val="0B1929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01000" y="249631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 7.4 → 5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2999232"/>
            <a:ext cx="347472" cy="347472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9992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60120" y="29260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Silica dissolves + histidine switches 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749040" y="292608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Acid + phosphate catalysis dissolves the shell over ~1 hr. Histidine imidazoles (pKa 6) protonate, gaining positive charge.¹¹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001000" y="3044952"/>
            <a:ext cx="731520" cy="274320"/>
          </a:xfrm>
          <a:prstGeom prst="rect">
            <a:avLst/>
          </a:prstGeom>
          <a:solidFill>
            <a:srgbClr val="0B1929"/>
          </a:solidFill>
          <a:ln w="12700">
            <a:solidFill>
              <a:srgbClr val="0B1929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01000" y="3044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 6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" y="3547872"/>
            <a:ext cx="347472" cy="347472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35478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60120" y="34747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Proton sponge → endosome rupture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749040" y="347472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Protonated polymer pulls H⁺ and Cl⁻ into the endosome. Water follows. Endosome swells and bursts.¹⁰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001000" y="3593592"/>
            <a:ext cx="731520" cy="274320"/>
          </a:xfrm>
          <a:prstGeom prst="rect">
            <a:avLst/>
          </a:prstGeom>
          <a:solidFill>
            <a:srgbClr val="0B1929"/>
          </a:solidFill>
          <a:ln w="12700">
            <a:solidFill>
              <a:srgbClr val="0B1929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001000" y="35935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 5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57200" y="4096512"/>
            <a:ext cx="347472" cy="347472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40965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960120" y="40233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mRNA release + translation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3749040" y="402336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Polyplex disassembles in the cytosol. Ribosomes translate mRNA → antigen → MHC presentation → immune response.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8001000" y="4142232"/>
            <a:ext cx="731520" cy="274320"/>
          </a:xfrm>
          <a:prstGeom prst="rect">
            <a:avLst/>
          </a:prstGeom>
          <a:solidFill>
            <a:srgbClr val="0B1929"/>
          </a:solidFill>
          <a:ln w="12700">
            <a:solidFill>
              <a:srgbClr val="0B1929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001000" y="414223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cytosol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design coupling: silica dissolution and proton sponge activation must occur on the same ~1-hour timescale.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502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IS DEFENSIBLE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one-paragraph defense.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7863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SHiP replaces every oxidation-prone bond in a current mRNA-LNP with a chemically inert equivalent. </a:t>
            </a:r>
            <a:pPr indent="0" marL="0">
              <a:buNone/>
            </a:pPr>
            <a:r>
              <a:rPr lang="en-US" sz="1600" i="1" dirty="0">
                <a:solidFill>
                  <a:srgbClr val="CBD5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ionizable lipid is replaced by a polyhistidine-polylysine polymer that uses the same pH-responsive endosomal escape principle — proton sponge instead of lipid flip — without any C=C bonds. The structural stability normally provided by cholesterol and helper lipids is replaced by a thin biomimetic silica shell that is thermodynamically oxidation-terminal. </a:t>
            </a:r>
            <a:pPr indent="0" marL="0">
              <a:buNone/>
            </a:pPr>
            <a:r>
              <a:rPr lang="en-US" sz="16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result is a vehicle that is structurally incapable of lipid peroxidation, while retaining the pH-triggered, APC-targeted, endosomally-released delivery behavior that makes mRNA vaccines work.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4297680"/>
            <a:ext cx="457200" cy="1828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43891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tradeoff is potency for stability — and for vaccine indications in cold-chain-constrained markets, that is the right trade.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OPPORTUNITY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Addressable market: cold-chain-constrained mRNA vaccines.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269748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645920"/>
            <a:ext cx="2697480" cy="7315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874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214884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$25B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640080" y="2880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2034¹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32461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global mRNA vaccine doses annually. The full addressable market, regardless of carrier.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46120" y="1645920"/>
            <a:ext cx="269748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46120" y="1645920"/>
            <a:ext cx="2697480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29000" y="1874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429000" y="214884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$4–8B</a:t>
            </a:r>
            <a:endParaRPr lang="en-US" sz="4200" dirty="0"/>
          </a:p>
        </p:txBody>
      </p:sp>
      <p:sp>
        <p:nvSpPr>
          <p:cNvPr id="14" name="Text 12"/>
          <p:cNvSpPr/>
          <p:nvPr/>
        </p:nvSpPr>
        <p:spPr>
          <a:xfrm>
            <a:off x="3429000" y="2880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2030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29000" y="32461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mRNA doses delivered where cold chain is the binding constraint: LMICs, rural, stockpile, pandemic response.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35040" y="1645920"/>
            <a:ext cx="269748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35040" y="1645920"/>
            <a:ext cx="2697480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0" y="1874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 (10-YR)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217920" y="214884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$0.4–1.5B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6217920" y="2880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realistic capture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217920" y="32461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carrier for vaccines where cold chain is binding and LNP potency is not required. Vaccine-only, first-gen.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doesn't need to beat LNPs on potency — it needs to be the default where cold chain is the binding constraint.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references on final slide.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Cheaper per delivered dose. More people reached.</a:t>
            </a:r>
            <a:endParaRPr lang="en-US" sz="2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554480"/>
          <a:ext cx="438912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120640" y="1554480"/>
            <a:ext cx="36118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120640" y="1554480"/>
            <a:ext cx="54864" cy="9144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303520" y="1627632"/>
            <a:ext cx="1508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~$7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6812280" y="16916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savings per dose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812280" y="20116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eliminated cold chain + wastage recovery³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120640" y="2532888"/>
            <a:ext cx="36118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120640" y="2532888"/>
            <a:ext cx="54864" cy="9144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303520" y="2606040"/>
            <a:ext cx="1508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~€5.7B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6812280" y="267004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EU cold chain savings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812280" y="299008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IQVIA 2025 analysis, all thermostable vaccines³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120640" y="3511296"/>
            <a:ext cx="36118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120640" y="3511296"/>
            <a:ext cx="54864" cy="9144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303520" y="3584448"/>
            <a:ext cx="1508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200–800K</a:t>
            </a:r>
            <a:endParaRPr lang="en-US" sz="2400" dirty="0"/>
          </a:p>
        </p:txBody>
      </p:sp>
      <p:sp>
        <p:nvSpPr>
          <p:cNvPr id="18" name="Text 15"/>
          <p:cNvSpPr/>
          <p:nvPr/>
        </p:nvSpPr>
        <p:spPr>
          <a:xfrm>
            <a:off x="6812280" y="364845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excess deaths averted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812280" y="3968496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moderate pandemic, +15–25% coverage vs LNP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457200" y="4617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Trade: ~2× more mRNA per dose (lower potency) × ~5× savings per delivered dose = still cheaper overall.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computational proposal to first vaccine product.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737360"/>
            <a:ext cx="1600200" cy="347472"/>
          </a:xfrm>
          <a:prstGeom prst="rect">
            <a:avLst/>
          </a:prstGeom>
          <a:solidFill>
            <a:srgbClr val="06B6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73736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2084832"/>
            <a:ext cx="1600200" cy="23042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194560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silico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validation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880360"/>
            <a:ext cx="1325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Multi-pathway kinetics; molecular dynamics; integrated design document. Solo-executable.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02920" y="4069080"/>
            <a:ext cx="160020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406908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&lt;$50K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103120" y="3063240"/>
            <a:ext cx="109728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212848" y="1737360"/>
            <a:ext cx="1600200" cy="347472"/>
          </a:xfrm>
          <a:prstGeom prst="rect">
            <a:avLst/>
          </a:prstGeom>
          <a:solidFill>
            <a:srgbClr val="0B192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12848" y="173736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YR 1–2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212848" y="2084832"/>
            <a:ext cx="1600200" cy="23042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350008" y="2194560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Academic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wet-lab PoC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350008" y="2880360"/>
            <a:ext cx="1325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Synthesize pHK, silicify polyplex, verify DLS/TEM. In vitro transfection in DC line.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212848" y="4069080"/>
            <a:ext cx="160020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12848" y="406908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$0.5–2M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813048" y="3063240"/>
            <a:ext cx="109728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3922776" y="1737360"/>
            <a:ext cx="1600200" cy="347472"/>
          </a:xfrm>
          <a:prstGeom prst="rect">
            <a:avLst/>
          </a:prstGeom>
          <a:solidFill>
            <a:srgbClr val="0B192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922776" y="173736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YR 3–5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922776" y="2084832"/>
            <a:ext cx="1600200" cy="23042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059936" y="2194560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IND-enabling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studies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059936" y="2880360"/>
            <a:ext cx="1325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GLP tox, NHP immunogenicity, CMC scale-up, stability data package.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922776" y="4069080"/>
            <a:ext cx="160020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922776" y="406908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$15–40M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522976" y="3063240"/>
            <a:ext cx="109728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5632704" y="1737360"/>
            <a:ext cx="1600200" cy="347472"/>
          </a:xfrm>
          <a:prstGeom prst="rect">
            <a:avLst/>
          </a:prstGeom>
          <a:solidFill>
            <a:srgbClr val="0B192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32704" y="173736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YR 5–7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632704" y="2084832"/>
            <a:ext cx="1600200" cy="23042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769864" y="2194560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1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clinical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769864" y="2880360"/>
            <a:ext cx="1325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 volunteers. Safety, immunogenicity readouts. Platform validation.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632704" y="4069080"/>
            <a:ext cx="160020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32704" y="406908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$20–50M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232904" y="3063240"/>
            <a:ext cx="109728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7342632" y="1737360"/>
            <a:ext cx="1600200" cy="347472"/>
          </a:xfrm>
          <a:prstGeom prst="rect">
            <a:avLst/>
          </a:prstGeom>
          <a:solidFill>
            <a:srgbClr val="0B192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342632" y="173736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YR 7–10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7342632" y="2084832"/>
            <a:ext cx="1600200" cy="23042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479792" y="2194560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2/3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&amp; approval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7479792" y="2880360"/>
            <a:ext cx="1325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vaccine indication. Regulatory approval. Commercialization.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7342632" y="4069080"/>
            <a:ext cx="160020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342632" y="406908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$200–500M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Comparable platform acquisitions: Translate Bio → Sanofi for $3.2B (2021).¹⁵ Category precedent exists.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Who's building this, and who's missing.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Honesty about the current team state is more credible than overstatement. Here is what exists today.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4023360" cy="2697480"/>
          </a:xfrm>
          <a:prstGeom prst="rect">
            <a:avLst/>
          </a:prstGeom>
          <a:solidFill>
            <a:srgbClr val="FFFFFF"/>
          </a:solidFill>
          <a:ln w="19050">
            <a:solidFill>
              <a:srgbClr val="D1FA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828800"/>
            <a:ext cx="402336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0116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COMMITTED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23317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Founder: Cyrus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85800" y="2743200"/>
            <a:ext cx="3566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10, Vancouver. Prior work: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mRNA-LNP stability prediction tool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Biphasic Arrhenius model, MAE 4.52%, R² 0.848 across 36 data points. Presented at GVRSF 2026.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ARXA</a:t>
            </a:r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targeted mRNA for atherosclerosis reversal (founder).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Tomo Cancer</a:t>
            </a:r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3D mammography deployment (founder).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Project Think Youth</a:t>
            </a:r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nonprofit academic journal for high-school research (founder).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63440" y="1828800"/>
            <a:ext cx="4023360" cy="2697480"/>
          </a:xfrm>
          <a:prstGeom prst="rect">
            <a:avLst/>
          </a:prstGeom>
          <a:solidFill>
            <a:srgbClr val="FFFFFF"/>
          </a:solidFill>
          <a:ln w="19050">
            <a:solidFill>
              <a:srgbClr val="FED7A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1828800"/>
            <a:ext cx="4023360" cy="7315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20116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SEEKING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892040" y="23317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gaps this $1M seed closes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892040" y="2743200"/>
            <a:ext cx="3566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Scientific advisor</a:t>
            </a:r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with LNP formulation expertise (targets: Cullis, Cheng, Blakney @ UBC; Green @ Hopkins).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Wet-lab partnership</a:t>
            </a:r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at a UBC or equivalent facility with polymer synthesis + nanoparticle characterization.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Graduate-level co-founder</a:t>
            </a:r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PhD or postdoc willing to commit time once proof-of-concept data exists.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Patent counsel</a:t>
            </a:r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(pro-bono student filings available via Smart &amp; Biggar or Oyen Wiggs, Vancouver).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I'm optimizing for: converting credible scientific merit into committed mentor relationships, then into generated data.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real field isn't LNPs — it's every thermostable mRNA approach.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502920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154680" y="1737360"/>
            <a:ext cx="0" cy="265176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822960" y="3063240"/>
            <a:ext cx="46634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 rot="16200000">
            <a:off x="594360" y="164592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POTENCY →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240280" y="431596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STABILITY AT 25°C →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440180" y="1805940"/>
            <a:ext cx="292608" cy="292608"/>
          </a:xfrm>
          <a:prstGeom prst="ellipse">
            <a:avLst/>
          </a:prstGeom>
          <a:solidFill>
            <a:srgbClr val="EF444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751076" y="187909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Pfizer/Moderna LNP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488997" y="2145182"/>
            <a:ext cx="256032" cy="256032"/>
          </a:xfrm>
          <a:prstGeom prst="ellipse">
            <a:avLst/>
          </a:prstGeom>
          <a:solidFill>
            <a:srgbClr val="F9731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99893" y="2200046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Arcturus LUNAR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802636" y="2688336"/>
            <a:ext cx="256032" cy="256032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095244" y="274320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CureVac lyo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915668" y="3067812"/>
            <a:ext cx="237744" cy="237744"/>
          </a:xfrm>
          <a:prstGeom prst="ellipse">
            <a:avLst/>
          </a:prstGeom>
          <a:solidFill>
            <a:srgbClr val="64748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199132" y="311353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PBAE polymers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035808" y="3438144"/>
            <a:ext cx="237744" cy="237744"/>
          </a:xfrm>
          <a:prstGeom prst="ellipse">
            <a:avLst/>
          </a:prstGeom>
          <a:solidFill>
            <a:srgbClr val="64748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19272" y="3602736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 Bio cdDNA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483864" y="2253082"/>
            <a:ext cx="237744" cy="237744"/>
          </a:xfrm>
          <a:prstGeom prst="ellipse">
            <a:avLst/>
          </a:prstGeom>
          <a:solidFill>
            <a:srgbClr val="64748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67328" y="229880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saRNA (Replicate)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445813" y="3159252"/>
            <a:ext cx="822960" cy="548640"/>
          </a:xfrm>
          <a:prstGeom prst="ellipse">
            <a:avLst/>
          </a:prstGeom>
          <a:solidFill>
            <a:srgbClr val="06B6D4">
              <a:alpha val="15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56125" y="3232404"/>
            <a:ext cx="402336" cy="402336"/>
          </a:xfrm>
          <a:prstGeom prst="ellipse">
            <a:avLst/>
          </a:prstGeom>
          <a:solidFill>
            <a:srgbClr val="06B6D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942893" y="36621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(proposed)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943600" y="15544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SHiP's position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943600" y="1920240"/>
            <a:ext cx="292608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WINS ON: </a:t>
            </a:r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25°C stability in the field. No oxidizable chemistry means no upper bound from peroxidation kinetics.</a:t>
            </a:r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LOSES ON: </a:t>
            </a:r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Potency per µg mRNA. Expected 3–10× below optimized LNPs based on polymer-carrier literature.</a:t>
            </a:r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POSITIONING: </a:t>
            </a:r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replacement for LNPs in therapeutic indications. A dedicated platform for cold-chain-constrained vaccines where stability &gt; potency.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Competitors researched as of April 2026. Positions are approximate and based on published data.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conditions converged in 2025 that didn't exist five years ago.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1097280" cy="320040"/>
          </a:xfrm>
          <a:prstGeom prst="rect">
            <a:avLst/>
          </a:prstGeom>
          <a:solidFill>
            <a:srgbClr val="0B1929"/>
          </a:solidFill>
          <a:ln w="12700">
            <a:solidFill>
              <a:srgbClr val="0B1929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6002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691640" y="155448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Cold chain economics finally quantified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691640" y="1901952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IQVIA published the first rigorous per-dose cost analysis — €26/dose savings from thermostability, €5.7B annual EU cold chain cost. Before this, the economic case was qualitative.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2359152"/>
            <a:ext cx="1097280" cy="320040"/>
          </a:xfrm>
          <a:prstGeom prst="rect">
            <a:avLst/>
          </a:prstGeom>
          <a:solidFill>
            <a:srgbClr val="0B1929"/>
          </a:solidFill>
          <a:ln w="12700">
            <a:solidFill>
              <a:srgbClr val="0B1929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35915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2023–2026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691640" y="2313432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Pandemic preparedness as a funded category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691640" y="2660904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Post-COVID, CEPI and BARDA have deployed &gt;$1B specifically for thermostable pandemic vaccines. Dedicated non-dilutive funding didn't exist at this scale pre-2021.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118104"/>
            <a:ext cx="1097280" cy="320040"/>
          </a:xfrm>
          <a:prstGeom prst="rect">
            <a:avLst/>
          </a:prstGeom>
          <a:solidFill>
            <a:srgbClr val="0B1929"/>
          </a:solidFill>
          <a:ln w="12700">
            <a:solidFill>
              <a:srgbClr val="0B1929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118104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2023–2025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691640" y="3072384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Biomimetic silica dissolution kinetics characterized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691640" y="3419856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ensilication literature has quantified thin-film silica dissolution under endosomal conditions — the open scientific question from 2018 is now parameterized and modelable.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877056"/>
            <a:ext cx="1097280" cy="320040"/>
          </a:xfrm>
          <a:prstGeom prst="rect">
            <a:avLst/>
          </a:prstGeom>
          <a:solidFill>
            <a:srgbClr val="0B1929"/>
          </a:solidFill>
          <a:ln w="12700">
            <a:solidFill>
              <a:srgbClr val="0B1929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877056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long-standing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691640" y="3831336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NCA polymerization is a commodity process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691640" y="4178808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Copaxone's patent expired long ago. Multiple CMOs produce poly(amino acids) at GMP scale. The polymer manufacturing risk is solved; the novelty sits entirely in the carrier architecture.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SHiP-style proposal in 2018 would have been premature. In 2030 it will be crowded. 2026 is the window.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INDICATION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Beachhead: pandemic-preparedness stockpile vaccines.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deliberate, defensible starting point — not "all mRNA vaccines."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40233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828800"/>
            <a:ext cx="54864" cy="13716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96596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buyer values stability over potency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2423160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CEPI and BARDA explicitly fund thermostable platforms. Pfizer doesn't — they already have the world's cold chain infrastructure. This removes the #1 commercial objection.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663440" y="1828800"/>
            <a:ext cx="40233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63440" y="1828800"/>
            <a:ext cx="54864" cy="13716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96596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Regulatory risk is lower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92040" y="2423160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Use Authorization pathways and pre-negotiated regulatory frameworks (CEPI's 100 Days Mission) compress approval timelines substantially vs. a new commercial vaccine.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3337560"/>
            <a:ext cx="40233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3337560"/>
            <a:ext cx="54864" cy="13716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347472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Volume matches a first-gen platform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85800" y="3931920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Stockpile volumes are 10–100M doses, not billions. Manufacturing reproducibility challenges (biomimetic silica shell uniformity) are tractable at this scale.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63440" y="3337560"/>
            <a:ext cx="40233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63440" y="3337560"/>
            <a:ext cx="54864" cy="13716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347472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Non-dilutive funding is available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92040" y="3931920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CEPI has awarded &gt;$200M in thermostability-focused grants since 2022. A single CEPI award could fund IND-enabling work without VC dilution.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beachhead: routine LMIC vaccines via Gavi (measles, HPV, RSV) as SHiP's regulatory file matures.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502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FUNDING LADDER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$50K becomes a real company — the honest map.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691640" y="182880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88920" y="18288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754880" y="182880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OF FUNDS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863840" y="182880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40080" y="2103120"/>
            <a:ext cx="8138160" cy="13716"/>
          </a:xfrm>
          <a:prstGeom prst="rect">
            <a:avLst/>
          </a:prstGeom>
          <a:solidFill>
            <a:srgbClr val="06B6D4">
              <a:alpha val="40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19456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Pre-seed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691640" y="2194560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&lt;$50K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788920" y="21945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research grants, self-funded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754880" y="219456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Computational validation, mentor review, provisional patent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863840" y="2194560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– Month 6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40080" y="269748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Seed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691640" y="2697480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$500K–$1M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788920" y="26974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Bio-focused angels, Nucleate, CEPI small grants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754880" y="269748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Wet-lab PoC, founding team, preliminary data package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863840" y="2697480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6–18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40080" y="320040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Series A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691640" y="3200400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$3–5M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788920" y="32004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Seed-stage bio VC, CEPI, BARDA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754880" y="320040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lab, 4–6 hires, IP suite, N/P ratio + EE optimization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2–3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40080" y="370332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Series B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691640" y="3703320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$20–40M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788920" y="370332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Later-stage bio VC, strategic CVC (Pfizer Ventures, etc.)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754880" y="370332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IND-enabling: GLP tox, NHP immunogenicity, CMC scale-up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863840" y="3703320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3–5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40080" y="420624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Series C / Exit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691640" y="4206240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$100M+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2788920" y="42062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Tier-1 bio VC or pharma acquisition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754880" y="420624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1/2 clinical, first indication filing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863840" y="4206240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5–8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4008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I'm raising at the Pre-seed stage. Every subsequent stage is conditional on the preceding stage's data package.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RISKS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risk I've identified, and what would kill each one.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explicitly. Mitigation paths shown. A proposal with no risks is a proposal that hasn't been thought through.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749040" y="1828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754880" y="182880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2084832"/>
            <a:ext cx="8229600" cy="1371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1945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Proton sponge efficacy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749040" y="2267712"/>
            <a:ext cx="777240" cy="2926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49040" y="2267712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754880" y="219456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Fallback: GALA/HA2 membrane-active peptide conjugate. Validated via MD in Phase 2.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26517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Silica dissolution kinetics off-target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749040" y="2724912"/>
            <a:ext cx="777240" cy="2926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49040" y="2724912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754880" y="265176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 shell thickness 3–8 nm; incorporate amine dopants. Empirically characterizable.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31089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Potency gap &gt;10× vs LNP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749040" y="3182112"/>
            <a:ext cx="777240" cy="2926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49040" y="3182112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754880" y="310896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with saRNA to amplify in cytosol. Break-even at 5× gap maintains cost advantage.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35661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 reproducibility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749040" y="3639312"/>
            <a:ext cx="777240" cy="2926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749040" y="3639312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754880" y="356616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Silica shell uniformity batch-to-batch. Process development priority in Series A.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" y="40233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Amorphous silica immunogenicity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749040" y="4096512"/>
            <a:ext cx="777240" cy="2926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749040" y="4096512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754880" y="402336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Mesoporous silica nanoparticles already in clinical trials. Precedent exists.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7200" y="44805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Someone else publishes first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749040" y="4553712"/>
            <a:ext cx="777240" cy="29260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749040" y="4553712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754880" y="448056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literature review in Month 1; provisional patent before external outreach.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 criteria: if Phase 2 MD shows proton sponge cannot rupture an endosome even with peptide conjugate, the project is terminated.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B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2743200"/>
            <a:ext cx="4572000" cy="4572000"/>
          </a:xfrm>
          <a:prstGeom prst="ellipse">
            <a:avLst/>
          </a:prstGeom>
          <a:solidFill>
            <a:srgbClr val="06B6D4">
              <a:alpha val="3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532120" y="2788920"/>
            <a:ext cx="4572000" cy="4572000"/>
          </a:xfrm>
          <a:prstGeom prst="ellipse">
            <a:avLst/>
          </a:prstGeom>
          <a:solidFill>
            <a:srgbClr val="06B6D4">
              <a:alpha val="28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577840" y="2834640"/>
            <a:ext cx="4572000" cy="4572000"/>
          </a:xfrm>
          <a:prstGeom prst="ellipse">
            <a:avLst/>
          </a:prstGeom>
          <a:solidFill>
            <a:srgbClr val="06B6D4">
              <a:alpha val="26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23560" y="2880360"/>
            <a:ext cx="4572000" cy="4572000"/>
          </a:xfrm>
          <a:prstGeom prst="ellipse">
            <a:avLst/>
          </a:prstGeom>
          <a:solidFill>
            <a:srgbClr val="06B6D4">
              <a:alpha val="24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0" y="2926080"/>
            <a:ext cx="4572000" cy="4572000"/>
          </a:xfrm>
          <a:prstGeom prst="ellipse">
            <a:avLst/>
          </a:prstGeom>
          <a:solidFill>
            <a:srgbClr val="06B6D4">
              <a:alpha val="22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15000" y="2971800"/>
            <a:ext cx="4572000" cy="4572000"/>
          </a:xfrm>
          <a:prstGeom prst="ellipse">
            <a:avLst/>
          </a:prstGeom>
          <a:solidFill>
            <a:srgbClr val="06B6D4">
              <a:alpha val="2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760720" y="3017520"/>
            <a:ext cx="4572000" cy="4572000"/>
          </a:xfrm>
          <a:prstGeom prst="ellipse">
            <a:avLst/>
          </a:prstGeom>
          <a:solidFill>
            <a:srgbClr val="06B6D4">
              <a:alpha val="18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806440" y="3063240"/>
            <a:ext cx="4572000" cy="4572000"/>
          </a:xfrm>
          <a:prstGeom prst="ellipse">
            <a:avLst/>
          </a:prstGeom>
          <a:solidFill>
            <a:srgbClr val="06B6D4">
              <a:alpha val="16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5486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9144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$50K pre-seed.</a:t>
            </a:r>
            <a:endParaRPr lang="en-US" sz="5200" dirty="0"/>
          </a:p>
        </p:txBody>
      </p:sp>
      <p:sp>
        <p:nvSpPr>
          <p:cNvPr id="12" name="Text 10"/>
          <p:cNvSpPr/>
          <p:nvPr/>
        </p:nvSpPr>
        <p:spPr>
          <a:xfrm>
            <a:off x="640080" y="19202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BD5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specific capital that unlocks the seed round.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0080" y="2514600"/>
            <a:ext cx="640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6B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371600" y="25146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Mentor review → committed scientific advisor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71600" y="2816352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expert review with Cullis/Cheng/Blakney; signed advisory agreement as output.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" y="3227832"/>
            <a:ext cx="640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6B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371600" y="32278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1 computational data package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71600" y="3529584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Extended multi-pathway Arrhenius model + MD simulations (GROMACS) + in-silico oxidation audit. Output: publishable preprint.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0080" y="3941064"/>
            <a:ext cx="640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6B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371600" y="394106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Provisional patent + literature landscape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371600" y="4242816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USPTO filing with counsel; formal prior-art search to verify novelty before seed raise.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40080" y="4754880"/>
            <a:ext cx="36576" cy="2743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Cyrus   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 SHiP Platform Proposal   ·   seeking first check + scientific advisor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Sources cited throughout the deck.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8680" y="11887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Fortune Business Insights. mRNA Vaccines Market Size, Share 2034 Report. 2026.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68680" y="15544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Mordor Intelligence. mRNA Vaccines and Therapeutics Market Size &amp; Share Report. 2026.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192024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68680" y="19202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IQVIA. Tip of the Iceberg: Economic and Environmental Impact of the Vaccine Cold Chain. 2025.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228600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68680" y="22860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Health Organization. Revising Global Indicative Wastage Rates. 2019.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" y="265176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68680" y="26517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Sensos / Kelsius industry analyses of pharmaceutical cold chain losses, 2025.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" y="301752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68680" y="30175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Hallett, J. Imperial College London Q&amp;A on cold chains and COVID-19 vaccines. 2021.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7200" y="338328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68680" y="33832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Schoenmaker, L., et al. mRNA-lipid nanoparticle COVID-19 vaccines: structure and stability. Int. J. Pharm. 601 (2021): 120586.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374904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68680" y="37490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Yin, H., Xu, L., Porter, N. A. Free Radical Lipid Peroxidation: Mechanisms and Analysis. Chem. Rev. 111 (2011): 5944–5972.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7200" y="411480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68680" y="41148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Bis-allylic C–H BDE ≈ 75 kcal/mol; aliphatic C–H ≈ 98 kcal/mol. Luo, Y.-R. Comprehensive Handbook of Chemical Bond Energies, CRC Press, 2007.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892040" y="118872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394960" y="1188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Behr, J. P. The proton sponge: a trick to enter cells the viruses did not exploit. Chimia 51 (1997): 34–36.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892040" y="155448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394960" y="1554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Midoux, P., Monsigny, M. Efficient gene transfer by histidylated polylysine/pDNA complexes. Bioconj. Chem. 10 (1999): 406–411.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892040" y="192024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394960" y="19202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Kröger, N., Deutzmann, R., Sumper, M. Polycationic peptides from diatom biosilica. Science 286 (1999): 1129–1132.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892040" y="228600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394960" y="22860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Sartbaeva group (U. Bath). Ensilication for room-temperature storage of proteins. Nat. Commun. / Sci. Rep. 2017–2021.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892040" y="265176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394960" y="26517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Crowe, J. H., Crowe, L. M., Carpenter, J. F. Anhydrobiosis and the preservation of biological materials by trehalose. Annu. Rev. Physiol. 60 (1998): 73–103.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892040" y="301752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394960" y="3017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Sanofi press release, 3 August 2021: Translate Bio acquisition at $3.2B equity value.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892040" y="338328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394960" y="3383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Teva / FDA. Copaxone (glatiramer acetate), approved 1996. NCA-polymerized amino acid copolymer at scale.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892040" y="374904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394960" y="3749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Gilleron, J., et al. Image-based analysis of LNP siRNA delivery. Nat. Biotechnol. 31 (2013): 638–646.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proposal and scientific rationale documents available on request.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SHiP: Ambient-Stable mRNA Vaccine Delivery</dc:title>
  <dc:subject>PptxGenJS Presentation</dc:subject>
  <dc:creator>Cyrus</dc:creator>
  <cp:lastModifiedBy>Cyrus</cp:lastModifiedBy>
  <cp:revision>1</cp:revision>
  <dcterms:created xsi:type="dcterms:W3CDTF">2026-04-24T05:23:24Z</dcterms:created>
  <dcterms:modified xsi:type="dcterms:W3CDTF">2026-04-24T05:23:24Z</dcterms:modified>
</cp:coreProperties>
</file>